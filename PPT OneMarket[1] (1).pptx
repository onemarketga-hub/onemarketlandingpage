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9AC9820-A65A-4BE3-91B7-978ECD75299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A83ACDC-7B89-4ACA-A378-96E4AC506AF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strike="noStrike" spc="-1">
                <a:solidFill>
                  <a:srgbClr val="000000"/>
                </a:solidFill>
                <a:latin typeface="Arial"/>
              </a:rPr>
              <a:t>Cliquez pour éditer le format du texte-titre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solidFill>
                  <a:srgbClr val="000000"/>
                </a:solidFill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solidFill>
                  <a:srgbClr val="000000"/>
                </a:solidFill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Septième niveau de plan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5816A0C-3B41-4CEB-8194-78774B67C068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18" Type="http://schemas.openxmlformats.org/officeDocument/2006/relationships/image" Target="../media/image2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17" Type="http://schemas.openxmlformats.org/officeDocument/2006/relationships/image" Target="../media/image20.jpeg"/><Relationship Id="rId2" Type="http://schemas.openxmlformats.org/officeDocument/2006/relationships/image" Target="../media/image1.jpeg"/><Relationship Id="rId16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>
          <a:blip r:embed="rId2"/>
          <a:srcRect t="-30" r="2084" b="5625"/>
          <a:stretch/>
        </p:blipFill>
        <p:spPr>
          <a:xfrm>
            <a:off x="36000" y="72000"/>
            <a:ext cx="953280" cy="90000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solidFill>
              <a:srgbClr val="729FCF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3600" b="1" strike="noStrike" spc="-1">
                <a:solidFill>
                  <a:srgbClr val="000000"/>
                </a:solidFill>
                <a:latin typeface="Marianne"/>
              </a:rPr>
              <a:t>Propositions de modifications visuelles </a:t>
            </a:r>
            <a:endParaRPr lang="fr-FR" sz="36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fr-FR" sz="3600" b="1" strike="noStrike" spc="-1">
                <a:solidFill>
                  <a:srgbClr val="000000"/>
                </a:solidFill>
                <a:latin typeface="Marianne"/>
              </a:rPr>
              <a:t>OneMarketGabon</a:t>
            </a:r>
            <a:endParaRPr lang="fr-FR" sz="3600" b="1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684000" y="900000"/>
            <a:ext cx="5436000" cy="34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00" b="0" strike="noStrike" spc="-1">
                <a:solidFill>
                  <a:srgbClr val="000000"/>
                </a:solidFill>
                <a:latin typeface="Marianne"/>
              </a:rPr>
              <a:t>Moins d’attente. Plus d’action.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00" b="0" strike="noStrike" spc="-1">
                <a:solidFill>
                  <a:srgbClr val="000000"/>
                </a:solidFill>
                <a:latin typeface="Marianne"/>
              </a:rPr>
              <a:t>Avec OneMarket, trouvez l’aide qu’il vous faut en quelques clics et passez à la vitesse supérieure.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00" b="0" strike="noStrike" spc="-1">
                <a:solidFill>
                  <a:srgbClr val="000000"/>
                </a:solidFill>
                <a:latin typeface="Marianne"/>
              </a:rPr>
              <a:t>Que voulez-vous accomplir aujourd’hui ? </a:t>
            </a:r>
          </a:p>
        </p:txBody>
      </p:sp>
      <p:pic>
        <p:nvPicPr>
          <p:cNvPr id="12" name="Picture 11"/>
          <p:cNvPicPr/>
          <p:nvPr/>
        </p:nvPicPr>
        <p:blipFill>
          <a:blip r:embed="rId2"/>
          <a:srcRect t="6346" b="11108"/>
          <a:stretch/>
        </p:blipFill>
        <p:spPr>
          <a:xfrm>
            <a:off x="6525720" y="360000"/>
            <a:ext cx="2618280" cy="46796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13" name="Picture 12"/>
          <p:cNvPicPr/>
          <p:nvPr/>
        </p:nvPicPr>
        <p:blipFill>
          <a:blip r:embed="rId3"/>
          <a:srcRect t="-30" r="2084" b="5625"/>
          <a:stretch/>
        </p:blipFill>
        <p:spPr>
          <a:xfrm>
            <a:off x="36000" y="36360"/>
            <a:ext cx="762120" cy="71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32000" y="1103760"/>
            <a:ext cx="5976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694"/>
          </a:bodyPr>
          <a:lstStyle/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0" b="0" strike="noStrike" spc="-1">
                <a:solidFill>
                  <a:srgbClr val="000000"/>
                </a:solidFill>
                <a:latin typeface="Marianne"/>
              </a:rPr>
              <a:t>Assemblage = montage de meuble = montage TV</a:t>
            </a: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0" b="0" strike="noStrike" spc="-1">
                <a:solidFill>
                  <a:srgbClr val="000000"/>
                </a:solidFill>
                <a:latin typeface="Marianne"/>
              </a:rPr>
              <a:t>Le logo assemblage et réparations se ressemblent peut-être changer. Parce que montage est différent que la réparation </a:t>
            </a: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0" b="0" strike="noStrike" spc="-1">
                <a:solidFill>
                  <a:srgbClr val="000000"/>
                </a:solidFill>
                <a:latin typeface="Marianne"/>
              </a:rPr>
              <a:t>Trop de répétition : montage = montage de meuble donc à peut-être aussi enlever et regrouper dans montage de meuble.</a:t>
            </a:r>
          </a:p>
        </p:txBody>
      </p:sp>
      <p:pic>
        <p:nvPicPr>
          <p:cNvPr id="15" name="Picture 14"/>
          <p:cNvPicPr/>
          <p:nvPr/>
        </p:nvPicPr>
        <p:blipFill>
          <a:blip r:embed="rId2"/>
          <a:srcRect t="6509"/>
          <a:stretch/>
        </p:blipFill>
        <p:spPr>
          <a:xfrm>
            <a:off x="6741720" y="99720"/>
            <a:ext cx="2618280" cy="53002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16" name="Picture 15"/>
          <p:cNvPicPr/>
          <p:nvPr/>
        </p:nvPicPr>
        <p:blipFill>
          <a:blip r:embed="rId3"/>
          <a:srcRect t="-30" r="2084" b="5625"/>
          <a:stretch/>
        </p:blipFill>
        <p:spPr>
          <a:xfrm>
            <a:off x="36000" y="36360"/>
            <a:ext cx="952560" cy="89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32000" y="1103760"/>
            <a:ext cx="5976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0" b="0" strike="noStrike" spc="-1">
                <a:solidFill>
                  <a:srgbClr val="000000"/>
                </a:solidFill>
                <a:latin typeface="Marianne"/>
              </a:rPr>
              <a:t>Fini les notices compliquées !</a:t>
            </a:r>
            <a:endParaRPr lang="fr-FR" sz="25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0" b="0" strike="noStrike" spc="-1">
                <a:solidFill>
                  <a:srgbClr val="000000"/>
                </a:solidFill>
                <a:latin typeface="Marianne"/>
              </a:rPr>
              <a:t>On déballe, on monte, on nettoie. vous n’avez plus qu’à profiter de vos nouveaux meubles.</a:t>
            </a:r>
            <a:endParaRPr lang="fr-FR" sz="2500" b="0" strike="noStrike" spc="-1">
              <a:solidFill>
                <a:srgbClr val="000000"/>
              </a:solidFill>
              <a:latin typeface="Arial"/>
            </a:endParaRPr>
          </a:p>
          <a:p>
            <a:pPr marL="432000" indent="-324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500" b="0" strike="noStrike" spc="-1">
                <a:solidFill>
                  <a:srgbClr val="000000"/>
                </a:solidFill>
                <a:latin typeface="Marianne"/>
              </a:rPr>
              <a:t>En vogue : canapés incurvés, bureaux ergonomiques et matériaux éthiques. </a:t>
            </a:r>
            <a:endParaRPr lang="fr-FR" sz="2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2"/>
          <a:srcRect t="-30" r="2084" b="5625"/>
          <a:stretch/>
        </p:blipFill>
        <p:spPr>
          <a:xfrm>
            <a:off x="36000" y="36360"/>
            <a:ext cx="952560" cy="899640"/>
          </a:xfrm>
          <a:prstGeom prst="rect">
            <a:avLst/>
          </a:prstGeom>
          <a:ln w="0">
            <a:noFill/>
          </a:ln>
        </p:spPr>
      </p:pic>
      <p:pic>
        <p:nvPicPr>
          <p:cNvPr id="19" name="Picture 18"/>
          <p:cNvPicPr/>
          <p:nvPr/>
        </p:nvPicPr>
        <p:blipFill>
          <a:blip r:embed="rId3"/>
          <a:srcRect t="5040" b="2895"/>
          <a:stretch/>
        </p:blipFill>
        <p:spPr>
          <a:xfrm>
            <a:off x="6876000" y="180360"/>
            <a:ext cx="2619360" cy="521964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/>
          </p:nvPr>
        </p:nvSpPr>
        <p:spPr>
          <a:xfrm>
            <a:off x="108000" y="1080000"/>
            <a:ext cx="673200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623"/>
          </a:bodyPr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Marianne"/>
              </a:rPr>
              <a:t>Montage d’Art ne veut rien dire, donc on peut retirer ou remplacer par autre chose ? (installation murale/Pose de décorations murales?)</a:t>
            </a:r>
            <a:endParaRPr lang="fr-FR" sz="1400" b="0" strike="noStrike" spc="-1">
              <a:solidFill>
                <a:srgbClr val="000000"/>
              </a:solidFill>
              <a:latin typeface="Marianne"/>
              <a:ea typeface="Microsoft YaHei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Marianne"/>
                <a:ea typeface="Microsoft YaHei"/>
              </a:rPr>
              <a:t>Les favoris de nos clients /</a:t>
            </a:r>
            <a:r>
              <a:rPr lang="fr-FR" sz="1400" b="0" strike="noStrike" spc="-1">
                <a:solidFill>
                  <a:srgbClr val="000000"/>
                </a:solidFill>
                <a:latin typeface="Marianne"/>
              </a:rPr>
              <a:t>Nos services phares </a:t>
            </a:r>
            <a:endParaRPr lang="fr-FR" sz="1400" b="0" strike="noStrike" spc="-1">
              <a:solidFill>
                <a:srgbClr val="000000"/>
              </a:solidFill>
              <a:latin typeface="Marianne"/>
              <a:ea typeface="Microsoft YaHei"/>
            </a:endParaRPr>
          </a:p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Marianne"/>
              </a:rPr>
              <a:t>Des services fiables, rapides et accessibles pour faciliter votre quotidien. 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1" strike="noStrike" spc="-1">
                <a:solidFill>
                  <a:srgbClr val="000000"/>
                </a:solidFill>
                <a:latin typeface="Marianne"/>
              </a:rPr>
              <a:t>Montage de meubles 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À partir de 49 FCFA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Faites monter vos meubles sans stress. Nos experts s’occupent de tout, rapidement et avec soin. 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1" strike="noStrike" spc="-1">
                <a:solidFill>
                  <a:srgbClr val="000000"/>
                </a:solidFill>
                <a:latin typeface="Marianne"/>
              </a:rPr>
              <a:t>Installation murale /Pose de décorations murales 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À partir de 49 FCFA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Confiez vos tableaux, miroirs et décorations à des professionnels pour un rendu parfait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1" strike="noStrike" spc="-1">
                <a:solidFill>
                  <a:srgbClr val="000000"/>
                </a:solidFill>
                <a:latin typeface="Marianne"/>
              </a:rPr>
              <a:t>Installation de TV et sécurisé.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À partir de 69 FCFA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Profitez d’une installation propre et sur mesure, pour un confort optimal dès la première mise en marche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1" i="1" strike="noStrike" spc="-1">
                <a:solidFill>
                  <a:srgbClr val="000000"/>
                </a:solidFill>
                <a:latin typeface="Marianne"/>
              </a:rPr>
              <a:t>Aide au déménagement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À partir de 67 FCFA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Simplifiez votre déménagement grâce à des pros fiables et efficaces, disponibles quand vous en avez besoin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1" i="1" strike="noStrike" spc="-1">
                <a:solidFill>
                  <a:srgbClr val="000000"/>
                </a:solidFill>
                <a:latin typeface="Marianne"/>
              </a:rPr>
              <a:t>Voir tous les services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r>
              <a:rPr lang="fr-FR" sz="1400" b="0" i="1" strike="noStrike" spc="-1">
                <a:solidFill>
                  <a:srgbClr val="000000"/>
                </a:solidFill>
                <a:latin typeface="Marianne"/>
              </a:rPr>
              <a:t>Découvrez toutes nos prestations OneMarket : aide, réparation, entretien, livraison et plus encore.</a:t>
            </a: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21" name="Picture 20"/>
          <p:cNvPicPr/>
          <p:nvPr/>
        </p:nvPicPr>
        <p:blipFill>
          <a:blip r:embed="rId2"/>
          <a:srcRect t="-30" r="2084" b="5625"/>
          <a:stretch/>
        </p:blipFill>
        <p:spPr>
          <a:xfrm>
            <a:off x="36000" y="36360"/>
            <a:ext cx="952560" cy="899640"/>
          </a:xfrm>
          <a:prstGeom prst="rect">
            <a:avLst/>
          </a:prstGeom>
          <a:ln w="0">
            <a:noFill/>
          </a:ln>
        </p:spPr>
      </p:pic>
      <p:pic>
        <p:nvPicPr>
          <p:cNvPr id="22" name="Picture 21"/>
          <p:cNvPicPr/>
          <p:nvPr/>
        </p:nvPicPr>
        <p:blipFill>
          <a:blip r:embed="rId3"/>
          <a:srcRect t="5040" b="6068"/>
          <a:stretch/>
        </p:blipFill>
        <p:spPr>
          <a:xfrm>
            <a:off x="6840000" y="180360"/>
            <a:ext cx="2619360" cy="50396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1080000" y="36000"/>
            <a:ext cx="5580000" cy="97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400" b="0" strike="noStrike" spc="-1">
                <a:solidFill>
                  <a:srgbClr val="000000"/>
                </a:solidFill>
                <a:latin typeface="Marianne"/>
              </a:rPr>
              <a:t>OneMarket, la plateforme qui simplifie vos projets du quotidien.</a:t>
            </a:r>
          </a:p>
          <a:p>
            <a:r>
              <a:rPr lang="fr-FR" sz="1400" b="0" strike="noStrike" spc="-1">
                <a:solidFill>
                  <a:srgbClr val="000000"/>
                </a:solidFill>
                <a:latin typeface="Marianne"/>
              </a:rPr>
              <a:t>Réservez en ligne, un professionnel s’occupe du reste.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/>
          </p:nvPr>
        </p:nvSpPr>
        <p:spPr>
          <a:xfrm>
            <a:off x="1080000" y="311760"/>
            <a:ext cx="5976000" cy="11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r>
              <a:rPr lang="fr-FR" sz="3200" b="1" strike="noStrike" spc="-1">
                <a:solidFill>
                  <a:srgbClr val="000000"/>
                </a:solidFill>
                <a:latin typeface="Marianne"/>
              </a:rPr>
              <a:t>Illustrations site internet /application </a:t>
            </a:r>
          </a:p>
        </p:txBody>
      </p:sp>
      <p:pic>
        <p:nvPicPr>
          <p:cNvPr id="25" name="Picture 24"/>
          <p:cNvPicPr/>
          <p:nvPr/>
        </p:nvPicPr>
        <p:blipFill>
          <a:blip r:embed="rId2"/>
          <a:srcRect t="-30" r="2084" b="5625"/>
          <a:stretch/>
        </p:blipFill>
        <p:spPr>
          <a:xfrm>
            <a:off x="36000" y="36360"/>
            <a:ext cx="952560" cy="899640"/>
          </a:xfrm>
          <a:prstGeom prst="rect">
            <a:avLst/>
          </a:prstGeom>
          <a:ln w="0">
            <a:noFill/>
          </a:ln>
        </p:spPr>
      </p:pic>
      <p:pic>
        <p:nvPicPr>
          <p:cNvPr id="26" name="Picture 25"/>
          <p:cNvPicPr/>
          <p:nvPr/>
        </p:nvPicPr>
        <p:blipFill>
          <a:blip r:embed="rId3"/>
          <a:stretch/>
        </p:blipFill>
        <p:spPr>
          <a:xfrm>
            <a:off x="7164000" y="2736000"/>
            <a:ext cx="1275480" cy="1275480"/>
          </a:xfrm>
          <a:prstGeom prst="rect">
            <a:avLst/>
          </a:prstGeom>
          <a:ln w="0">
            <a:noFill/>
          </a:ln>
        </p:spPr>
      </p:pic>
      <p:pic>
        <p:nvPicPr>
          <p:cNvPr id="27" name="Picture 26"/>
          <p:cNvPicPr/>
          <p:nvPr/>
        </p:nvPicPr>
        <p:blipFill>
          <a:blip r:embed="rId4"/>
          <a:stretch/>
        </p:blipFill>
        <p:spPr>
          <a:xfrm>
            <a:off x="360000" y="1620000"/>
            <a:ext cx="1635480" cy="1635480"/>
          </a:xfrm>
          <a:prstGeom prst="rect">
            <a:avLst/>
          </a:prstGeom>
          <a:ln w="0">
            <a:noFill/>
          </a:ln>
        </p:spPr>
      </p:pic>
      <p:pic>
        <p:nvPicPr>
          <p:cNvPr id="28" name="Picture 27"/>
          <p:cNvPicPr/>
          <p:nvPr/>
        </p:nvPicPr>
        <p:blipFill>
          <a:blip r:embed="rId5"/>
          <a:stretch/>
        </p:blipFill>
        <p:spPr>
          <a:xfrm>
            <a:off x="2520000" y="1800000"/>
            <a:ext cx="1260000" cy="126000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28"/>
          <p:cNvPicPr/>
          <p:nvPr/>
        </p:nvPicPr>
        <p:blipFill>
          <a:blip r:embed="rId6"/>
          <a:stretch/>
        </p:blipFill>
        <p:spPr>
          <a:xfrm>
            <a:off x="5564520" y="4124520"/>
            <a:ext cx="1455480" cy="1455480"/>
          </a:xfrm>
          <a:prstGeom prst="rect">
            <a:avLst/>
          </a:prstGeom>
          <a:ln w="0">
            <a:noFill/>
          </a:ln>
        </p:spPr>
      </p:pic>
      <p:pic>
        <p:nvPicPr>
          <p:cNvPr id="30" name="Picture 29"/>
          <p:cNvPicPr/>
          <p:nvPr/>
        </p:nvPicPr>
        <p:blipFill>
          <a:blip r:embed="rId7"/>
          <a:stretch/>
        </p:blipFill>
        <p:spPr>
          <a:xfrm>
            <a:off x="8624520" y="4124520"/>
            <a:ext cx="1455480" cy="1455480"/>
          </a:xfrm>
          <a:prstGeom prst="rect">
            <a:avLst/>
          </a:prstGeom>
          <a:ln w="0">
            <a:noFill/>
          </a:ln>
        </p:spPr>
      </p:pic>
      <p:pic>
        <p:nvPicPr>
          <p:cNvPr id="31" name="Picture 30"/>
          <p:cNvPicPr/>
          <p:nvPr/>
        </p:nvPicPr>
        <p:blipFill>
          <a:blip r:embed="rId8"/>
          <a:stretch/>
        </p:blipFill>
        <p:spPr>
          <a:xfrm>
            <a:off x="5760000" y="2700000"/>
            <a:ext cx="1260000" cy="1260000"/>
          </a:xfrm>
          <a:prstGeom prst="rect">
            <a:avLst/>
          </a:prstGeom>
          <a:ln w="0">
            <a:noFill/>
          </a:ln>
        </p:spPr>
      </p:pic>
      <p:pic>
        <p:nvPicPr>
          <p:cNvPr id="32" name="Picture 31"/>
          <p:cNvPicPr/>
          <p:nvPr/>
        </p:nvPicPr>
        <p:blipFill>
          <a:blip r:embed="rId9"/>
          <a:stretch/>
        </p:blipFill>
        <p:spPr>
          <a:xfrm>
            <a:off x="4320000" y="1800000"/>
            <a:ext cx="1260000" cy="126000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32"/>
          <p:cNvPicPr/>
          <p:nvPr/>
        </p:nvPicPr>
        <p:blipFill>
          <a:blip r:embed="rId10"/>
          <a:stretch/>
        </p:blipFill>
        <p:spPr>
          <a:xfrm>
            <a:off x="7200000" y="1260000"/>
            <a:ext cx="1260000" cy="1260000"/>
          </a:xfrm>
          <a:prstGeom prst="rect">
            <a:avLst/>
          </a:prstGeom>
          <a:ln w="0">
            <a:noFill/>
          </a:ln>
        </p:spPr>
      </p:pic>
      <p:pic>
        <p:nvPicPr>
          <p:cNvPr id="34" name="Picture 33"/>
          <p:cNvPicPr/>
          <p:nvPr/>
        </p:nvPicPr>
        <p:blipFill>
          <a:blip r:embed="rId11"/>
          <a:stretch/>
        </p:blipFill>
        <p:spPr>
          <a:xfrm>
            <a:off x="5760000" y="1438200"/>
            <a:ext cx="1081800" cy="1081800"/>
          </a:xfrm>
          <a:prstGeom prst="rect">
            <a:avLst/>
          </a:prstGeom>
          <a:ln w="0">
            <a:noFill/>
          </a:ln>
        </p:spPr>
      </p:pic>
      <p:pic>
        <p:nvPicPr>
          <p:cNvPr id="35" name="Picture 34"/>
          <p:cNvPicPr/>
          <p:nvPr/>
        </p:nvPicPr>
        <p:blipFill>
          <a:blip r:embed="rId12"/>
          <a:stretch/>
        </p:blipFill>
        <p:spPr>
          <a:xfrm>
            <a:off x="8638200" y="2518200"/>
            <a:ext cx="1441800" cy="1441800"/>
          </a:xfrm>
          <a:prstGeom prst="rect">
            <a:avLst/>
          </a:prstGeom>
          <a:ln w="0">
            <a:noFill/>
          </a:ln>
        </p:spPr>
      </p:pic>
      <p:pic>
        <p:nvPicPr>
          <p:cNvPr id="36" name="Picture 35"/>
          <p:cNvPicPr/>
          <p:nvPr/>
        </p:nvPicPr>
        <p:blipFill>
          <a:blip r:embed="rId13"/>
          <a:stretch/>
        </p:blipFill>
        <p:spPr>
          <a:xfrm>
            <a:off x="4122720" y="3780000"/>
            <a:ext cx="1277280" cy="127728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36"/>
          <p:cNvPicPr/>
          <p:nvPr/>
        </p:nvPicPr>
        <p:blipFill>
          <a:blip r:embed="rId14"/>
          <a:stretch/>
        </p:blipFill>
        <p:spPr>
          <a:xfrm>
            <a:off x="2340000" y="3944520"/>
            <a:ext cx="1275480" cy="1275480"/>
          </a:xfrm>
          <a:prstGeom prst="rect">
            <a:avLst/>
          </a:prstGeom>
          <a:ln w="0">
            <a:noFill/>
          </a:ln>
        </p:spPr>
      </p:pic>
      <p:pic>
        <p:nvPicPr>
          <p:cNvPr id="38" name="Picture 37"/>
          <p:cNvPicPr/>
          <p:nvPr/>
        </p:nvPicPr>
        <p:blipFill>
          <a:blip r:embed="rId15"/>
          <a:stretch/>
        </p:blipFill>
        <p:spPr>
          <a:xfrm>
            <a:off x="405000" y="3465000"/>
            <a:ext cx="1575000" cy="157500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38"/>
          <p:cNvPicPr/>
          <p:nvPr/>
        </p:nvPicPr>
        <p:blipFill>
          <a:blip r:embed="rId16"/>
          <a:stretch/>
        </p:blipFill>
        <p:spPr>
          <a:xfrm>
            <a:off x="7092000" y="4140000"/>
            <a:ext cx="1440000" cy="144000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39"/>
          <p:cNvPicPr/>
          <p:nvPr/>
        </p:nvPicPr>
        <p:blipFill>
          <a:blip r:embed="rId17"/>
          <a:stretch/>
        </p:blipFill>
        <p:spPr>
          <a:xfrm>
            <a:off x="5796000" y="108000"/>
            <a:ext cx="1260000" cy="1260000"/>
          </a:xfrm>
          <a:prstGeom prst="rect">
            <a:avLst/>
          </a:prstGeom>
          <a:ln w="0">
            <a:noFill/>
          </a:ln>
        </p:spPr>
      </p:pic>
      <p:pic>
        <p:nvPicPr>
          <p:cNvPr id="41" name="Picture 40"/>
          <p:cNvPicPr/>
          <p:nvPr/>
        </p:nvPicPr>
        <p:blipFill>
          <a:blip r:embed="rId18"/>
          <a:stretch/>
        </p:blipFill>
        <p:spPr>
          <a:xfrm>
            <a:off x="8550360" y="900000"/>
            <a:ext cx="1529640" cy="152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CD7D-E25A-71FB-5909-D8D870DEB82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35986" y="496324"/>
            <a:ext cx="4864159" cy="3555414"/>
          </a:xfrm>
        </p:spPr>
        <p:txBody>
          <a:bodyPr>
            <a:noAutofit/>
          </a:bodyPr>
          <a:lstStyle/>
          <a:p>
            <a:r>
              <a:rPr lang="fr-FR" sz="1050" b="1"/>
              <a:t>Rejoignez la Communauté OneMarket</a:t>
            </a:r>
          </a:p>
          <a:p>
            <a:r>
              <a:rPr lang="fr-FR" sz="1050"/>
              <a:t>OneMarket prépare le futur des services locaux au Gabon.</a:t>
            </a:r>
            <a:br>
              <a:rPr lang="fr-FR" sz="1050"/>
            </a:br>
            <a:r>
              <a:rPr lang="fr-FR" sz="1050"/>
              <a:t>Inscrivez-vous pour suivre notre progression, être informé(e) du lancement et profiter d’avantages exclusifs en tant qu’early adopter.</a:t>
            </a:r>
          </a:p>
          <a:p>
            <a:pPr marL="0" indent="0">
              <a:buNone/>
            </a:pPr>
            <a:endParaRPr lang="fr-FR" sz="1050"/>
          </a:p>
          <a:p>
            <a:r>
              <a:rPr lang="fr-FR" sz="1050" b="1"/>
              <a:t>Formulaire d’Intérêt OneMarket</a:t>
            </a:r>
          </a:p>
          <a:p>
            <a:r>
              <a:rPr lang="fr-FR" sz="1050" b="1"/>
              <a:t>Prénom</a:t>
            </a:r>
            <a:r>
              <a:rPr lang="fr-FR" sz="1050"/>
              <a:t>*</a:t>
            </a:r>
            <a:br>
              <a:rPr lang="fr-FR" sz="1050"/>
            </a:br>
            <a:r>
              <a:rPr lang="fr-FR" sz="1050"/>
              <a:t>Entrez votre prénom</a:t>
            </a:r>
          </a:p>
          <a:p>
            <a:r>
              <a:rPr lang="fr-FR" sz="1050" b="1"/>
              <a:t>Nom de famille</a:t>
            </a:r>
            <a:r>
              <a:rPr lang="fr-FR" sz="1050"/>
              <a:t>*</a:t>
            </a:r>
            <a:br>
              <a:rPr lang="fr-FR" sz="1050"/>
            </a:br>
            <a:r>
              <a:rPr lang="fr-FR" sz="1050"/>
              <a:t>Entrez votre nom de famille</a:t>
            </a:r>
          </a:p>
          <a:p>
            <a:r>
              <a:rPr lang="fr-FR" sz="1050" b="1"/>
              <a:t>Numéro WhatsApp</a:t>
            </a:r>
            <a:r>
              <a:rPr lang="fr-FR" sz="1050"/>
              <a:t>*</a:t>
            </a:r>
            <a:br>
              <a:rPr lang="fr-FR" sz="1050"/>
            </a:br>
            <a:r>
              <a:rPr lang="fr-FR" sz="1050"/>
              <a:t>Exemple : +241 077 854 048</a:t>
            </a:r>
          </a:p>
          <a:p>
            <a:r>
              <a:rPr lang="fr-FR" sz="1050" b="1"/>
              <a:t>Email (optionnel)</a:t>
            </a:r>
            <a:br>
              <a:rPr lang="fr-FR" sz="1050"/>
            </a:br>
            <a:r>
              <a:rPr lang="fr-FR" sz="1050"/>
              <a:t>Entrez votre adresse e-mail (pour recevoir les actualités et confirmations)</a:t>
            </a:r>
          </a:p>
          <a:p>
            <a:r>
              <a:rPr lang="fr-FR" sz="1050" b="1"/>
              <a:t>Profil Facebook (optionnel)</a:t>
            </a:r>
            <a:br>
              <a:rPr lang="fr-FR" sz="1050"/>
            </a:br>
            <a:r>
              <a:rPr lang="fr-FR" sz="1050"/>
              <a:t>Lien vers votre profil personnel ou votre page d’entreprise</a:t>
            </a:r>
            <a:endParaRPr lang="fr-FR" sz="105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E6-14AE-8F66-EEFB-41DB37EB8BB4}"/>
              </a:ext>
            </a:extLst>
          </p:cNvPr>
          <p:cNvSpPr txBox="1">
            <a:spLocks/>
          </p:cNvSpPr>
          <p:nvPr/>
        </p:nvSpPr>
        <p:spPr>
          <a:xfrm>
            <a:off x="5287411" y="496324"/>
            <a:ext cx="4864159" cy="41466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000" b="1" dirty="0"/>
              <a:t>Localisation / Zone</a:t>
            </a:r>
            <a:r>
              <a:rPr lang="fr-FR" sz="1000" dirty="0"/>
              <a:t>*</a:t>
            </a:r>
            <a:br>
              <a:rPr lang="fr-FR" sz="1000" dirty="0"/>
            </a:br>
            <a:r>
              <a:rPr lang="fr-FR" sz="1000" dirty="0"/>
              <a:t>Exemple : </a:t>
            </a:r>
            <a:r>
              <a:rPr lang="fr-FR" sz="1000" dirty="0" err="1"/>
              <a:t>Okala</a:t>
            </a:r>
            <a:r>
              <a:rPr lang="fr-FR" sz="1000" dirty="0"/>
              <a:t>, Delta, </a:t>
            </a:r>
            <a:r>
              <a:rPr lang="fr-FR" sz="1000" dirty="0" err="1"/>
              <a:t>Akanda</a:t>
            </a:r>
            <a:endParaRPr lang="en-US" sz="1000" dirty="0"/>
          </a:p>
          <a:p>
            <a:br>
              <a:rPr lang="fr-FR" sz="1000" dirty="0"/>
            </a:br>
            <a:endParaRPr lang="en-US" sz="1000" dirty="0">
              <a:effectLst/>
            </a:endParaRPr>
          </a:p>
          <a:p>
            <a:r>
              <a:rPr lang="fr-FR" sz="1000" b="1" dirty="0"/>
              <a:t>Services utilisés ou souhaités</a:t>
            </a:r>
            <a:endParaRPr lang="en-US" sz="1000" dirty="0">
              <a:effectLst/>
            </a:endParaRPr>
          </a:p>
          <a:p>
            <a:r>
              <a:rPr lang="fr-FR" sz="1000" dirty="0"/>
              <a:t>Cochez les services que vous utilisez déjà ou que vous aimeriez avoir facilement disponibles près de chez vous :</a:t>
            </a:r>
            <a:endParaRPr lang="en-US" sz="1000" dirty="0">
              <a:effectLst/>
            </a:endParaRPr>
          </a:p>
          <a:p>
            <a:r>
              <a:rPr lang="fr-FR" sz="1000" dirty="0"/>
              <a:t>☐ Ménage / Nettoyage à domicile</a:t>
            </a:r>
            <a:br>
              <a:rPr lang="fr-FR" sz="1000" dirty="0"/>
            </a:br>
            <a:r>
              <a:rPr lang="fr-FR" sz="1000" dirty="0"/>
              <a:t>☐ Plomberie (fuites, installations, réparations)</a:t>
            </a:r>
            <a:br>
              <a:rPr lang="fr-FR" sz="1000" dirty="0"/>
            </a:br>
            <a:r>
              <a:rPr lang="fr-FR" sz="1000" dirty="0"/>
              <a:t>☐ Électricité (pannes, branchements, éclairage)</a:t>
            </a:r>
            <a:br>
              <a:rPr lang="fr-FR" sz="1000" dirty="0"/>
            </a:br>
            <a:r>
              <a:rPr lang="fr-FR" sz="1000" dirty="0"/>
              <a:t>☐ Coiffure / Beauté à domicile</a:t>
            </a:r>
            <a:br>
              <a:rPr lang="fr-FR" sz="1000" dirty="0"/>
            </a:br>
            <a:r>
              <a:rPr lang="fr-FR" sz="1000" dirty="0"/>
              <a:t>☐ Jardinage / Entretien d’extérieur</a:t>
            </a:r>
            <a:br>
              <a:rPr lang="fr-FR" sz="1000" dirty="0"/>
            </a:br>
            <a:r>
              <a:rPr lang="fr-FR" sz="1000" dirty="0"/>
              <a:t>☐ Petits travaux / Bricolage</a:t>
            </a:r>
            <a:br>
              <a:rPr lang="fr-FR" sz="1000" dirty="0"/>
            </a:br>
            <a:r>
              <a:rPr lang="fr-FR" sz="1000" dirty="0"/>
              <a:t>☐ Livraison (courses, repas, colis)</a:t>
            </a:r>
            <a:br>
              <a:rPr lang="fr-FR" sz="1000" dirty="0"/>
            </a:br>
            <a:r>
              <a:rPr lang="fr-FR" sz="1000" dirty="0"/>
              <a:t>☐ Garde d’enfants / Baby-sitting</a:t>
            </a:r>
            <a:br>
              <a:rPr lang="fr-FR" sz="1000" dirty="0"/>
            </a:br>
            <a:r>
              <a:rPr lang="fr-FR" sz="1000" dirty="0"/>
              <a:t>☐ Cours particuliers / Soutien scolaire</a:t>
            </a:r>
            <a:br>
              <a:rPr lang="fr-FR" sz="1000" dirty="0"/>
            </a:br>
            <a:r>
              <a:rPr lang="fr-FR" sz="1000" dirty="0"/>
              <a:t>☐ Sport / Remise en forme</a:t>
            </a:r>
            <a:br>
              <a:rPr lang="fr-FR" sz="1000" dirty="0"/>
            </a:br>
            <a:r>
              <a:rPr lang="fr-FR" sz="1000" dirty="0"/>
              <a:t>☐ Aide informatique / Téléphone</a:t>
            </a:r>
            <a:br>
              <a:rPr lang="fr-FR" sz="1000" dirty="0"/>
            </a:br>
            <a:r>
              <a:rPr lang="fr-FR" sz="1000" dirty="0"/>
              <a:t>☐ Réparation auto / Moto</a:t>
            </a:r>
            <a:br>
              <a:rPr lang="fr-FR" sz="1000" dirty="0"/>
            </a:br>
            <a:r>
              <a:rPr lang="fr-FR" sz="1000" dirty="0"/>
              <a:t>☐ Peinture / Décoration</a:t>
            </a:r>
            <a:br>
              <a:rPr lang="fr-FR" sz="1000" dirty="0"/>
            </a:br>
            <a:r>
              <a:rPr lang="fr-FR" sz="1000" dirty="0"/>
              <a:t>☐ Déménagement / Transport</a:t>
            </a:r>
            <a:br>
              <a:rPr lang="fr-FR" sz="1000" dirty="0"/>
            </a:br>
            <a:r>
              <a:rPr lang="fr-FR" sz="1000" dirty="0"/>
              <a:t>☐ Autre service souhaité (précisez)</a:t>
            </a:r>
            <a:endParaRPr lang="en-US" sz="1000" dirty="0">
              <a:effectLst/>
            </a:endParaRPr>
          </a:p>
          <a:p>
            <a:br>
              <a:rPr lang="fr-FR" sz="1000" dirty="0"/>
            </a:br>
            <a:endParaRPr lang="en-US" sz="1000" dirty="0">
              <a:effectLst/>
            </a:endParaRPr>
          </a:p>
          <a:p>
            <a:r>
              <a:rPr lang="fr-FR" sz="1000" b="1" dirty="0"/>
              <a:t>Complément d’informations</a:t>
            </a:r>
            <a:endParaRPr lang="en-US" sz="1000" dirty="0">
              <a:effectLst/>
            </a:endParaRPr>
          </a:p>
          <a:p>
            <a:r>
              <a:rPr lang="fr-FR" sz="1000" dirty="0"/>
              <a:t>Décrivez brièvement le service ou le besoin que vous avez, ou comment </a:t>
            </a:r>
            <a:r>
              <a:rPr lang="fr-FR" sz="1000" dirty="0" err="1"/>
              <a:t>OneMarket</a:t>
            </a:r>
            <a:r>
              <a:rPr lang="fr-FR" sz="1000" dirty="0"/>
              <a:t> pourrait vous faciliter la vie.</a:t>
            </a:r>
            <a:br>
              <a:rPr lang="fr-FR" sz="1000" dirty="0"/>
            </a:br>
            <a:r>
              <a:rPr lang="fr-FR" sz="1000" i="1" dirty="0"/>
              <a:t>Exemple : “J’ai souvent du mal à trouver un plombier disponible à </a:t>
            </a:r>
            <a:r>
              <a:rPr lang="fr-FR" sz="1000" i="1" dirty="0" err="1"/>
              <a:t>Akanda</a:t>
            </a:r>
            <a:r>
              <a:rPr lang="fr-FR" sz="1000" i="1" dirty="0"/>
              <a:t> — </a:t>
            </a:r>
            <a:r>
              <a:rPr lang="fr-FR" sz="1000" i="1" dirty="0" err="1"/>
              <a:t>OneMarket</a:t>
            </a:r>
            <a:r>
              <a:rPr lang="fr-FR" sz="1000" i="1" dirty="0"/>
              <a:t> pourrait rendre la recherche plus rapide et fiable.”</a:t>
            </a:r>
            <a:endParaRPr lang="en-US" sz="1000" dirty="0">
              <a:effectLst/>
            </a:endParaRPr>
          </a:p>
          <a:p>
            <a:br>
              <a:rPr lang="fr-FR" sz="1000" dirty="0"/>
            </a:br>
            <a:endParaRPr lang="en-US" sz="1000" dirty="0">
              <a:effectLst/>
            </a:endParaRPr>
          </a:p>
          <a:p>
            <a:r>
              <a:rPr lang="fr-FR" sz="1000" b="1" dirty="0"/>
              <a:t>Soumettre ma demande</a:t>
            </a:r>
            <a:endParaRPr lang="en-US" sz="1000" dirty="0">
              <a:effectLst/>
            </a:endParaRPr>
          </a:p>
          <a:p>
            <a:r>
              <a:rPr lang="fr-FR" sz="1000" dirty="0"/>
              <a:t>En envoyant ce formulaire, vous rejoignez la liste d’attente </a:t>
            </a:r>
            <a:r>
              <a:rPr lang="fr-FR" sz="1000" dirty="0" err="1"/>
              <a:t>OneMarket</a:t>
            </a:r>
            <a:r>
              <a:rPr lang="fr-FR" sz="1000" dirty="0"/>
              <a:t> et serez informé(e) du lancement officiel ainsi que des avantages réservés à nos premiers membres.</a:t>
            </a:r>
            <a:endParaRPr lang="en-US" sz="1000" dirty="0">
              <a:effectLst/>
            </a:endParaRPr>
          </a:p>
          <a:p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409605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6E5D-FDED-DFD0-3F5A-DC51BE970A3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65461" y="-417444"/>
            <a:ext cx="4372800" cy="6566453"/>
          </a:xfrm>
        </p:spPr>
        <p:txBody>
          <a:bodyPr>
            <a:noAutofit/>
          </a:bodyPr>
          <a:lstStyle/>
          <a:p>
            <a:br>
              <a:rPr lang="fr-FR" sz="1050" dirty="0"/>
            </a:br>
            <a:endParaRPr lang="fr-FR" sz="1050" dirty="0"/>
          </a:p>
          <a:p>
            <a:r>
              <a:rPr lang="fr-FR" sz="1050" b="1" dirty="0"/>
              <a:t>Formulaire d’Inscription Prestataire</a:t>
            </a:r>
          </a:p>
          <a:p>
            <a:r>
              <a:rPr lang="fr-FR" sz="1050" b="1" dirty="0"/>
              <a:t>Nom de l’entreprise</a:t>
            </a:r>
            <a:r>
              <a:rPr lang="fr-FR" sz="1050" dirty="0"/>
              <a:t>*</a:t>
            </a:r>
            <a:br>
              <a:rPr lang="fr-FR" sz="1050" dirty="0"/>
            </a:br>
            <a:r>
              <a:rPr lang="fr-FR" sz="1050" dirty="0"/>
              <a:t>Entrez le nom de votre entreprise ou votre nom professionnel</a:t>
            </a:r>
          </a:p>
          <a:p>
            <a:r>
              <a:rPr lang="fr-FR" sz="1050" b="1" dirty="0"/>
              <a:t>Nom du propriétaire / Responsable</a:t>
            </a:r>
            <a:r>
              <a:rPr lang="fr-FR" sz="1050" dirty="0"/>
              <a:t>*</a:t>
            </a:r>
            <a:br>
              <a:rPr lang="fr-FR" sz="1050" dirty="0"/>
            </a:br>
            <a:r>
              <a:rPr lang="fr-FR" sz="1050" dirty="0"/>
              <a:t>Entrez votre nom et prénom</a:t>
            </a:r>
          </a:p>
          <a:p>
            <a:r>
              <a:rPr lang="fr-FR" sz="1050" b="1" dirty="0"/>
              <a:t>Localisation / Zone d’activité</a:t>
            </a:r>
            <a:r>
              <a:rPr lang="fr-FR" sz="1050" dirty="0"/>
              <a:t>*</a:t>
            </a:r>
            <a:br>
              <a:rPr lang="fr-FR" sz="1050" dirty="0"/>
            </a:br>
            <a:r>
              <a:rPr lang="fr-FR" sz="1050" dirty="0"/>
              <a:t>Exemple : </a:t>
            </a:r>
            <a:r>
              <a:rPr lang="fr-FR" sz="1050" dirty="0" err="1"/>
              <a:t>Okala</a:t>
            </a:r>
            <a:r>
              <a:rPr lang="fr-FR" sz="1050" dirty="0"/>
              <a:t>, Delta, </a:t>
            </a:r>
            <a:r>
              <a:rPr lang="fr-FR" sz="1050" dirty="0" err="1"/>
              <a:t>Akanda</a:t>
            </a:r>
            <a:endParaRPr lang="fr-FR" sz="1050" dirty="0"/>
          </a:p>
          <a:p>
            <a:r>
              <a:rPr lang="fr-FR" sz="1050" b="1" dirty="0"/>
              <a:t>Numéro WhatsApp / Téléphone</a:t>
            </a:r>
            <a:r>
              <a:rPr lang="fr-FR" sz="1050" dirty="0"/>
              <a:t>*</a:t>
            </a:r>
            <a:br>
              <a:rPr lang="fr-FR" sz="1050" dirty="0"/>
            </a:br>
            <a:r>
              <a:rPr lang="fr-FR" sz="1050" dirty="0"/>
              <a:t>Exemple : +241 077 854 048</a:t>
            </a:r>
          </a:p>
          <a:p>
            <a:r>
              <a:rPr lang="fr-FR" sz="1050" b="1" dirty="0"/>
              <a:t>Page Facebook / Réseaux (optionnel)</a:t>
            </a:r>
            <a:br>
              <a:rPr lang="fr-FR" sz="1050" dirty="0"/>
            </a:br>
            <a:r>
              <a:rPr lang="fr-FR" sz="1050" dirty="0"/>
              <a:t>Lien vers votre page d’entreprise ou profil professionnel</a:t>
            </a:r>
          </a:p>
          <a:p>
            <a:br>
              <a:rPr lang="fr-FR" sz="1050" dirty="0"/>
            </a:br>
            <a:endParaRPr lang="fr-FR" sz="1050" dirty="0"/>
          </a:p>
          <a:p>
            <a:r>
              <a:rPr lang="fr-FR" sz="1050" b="1" dirty="0"/>
              <a:t>Type de service proposé</a:t>
            </a:r>
            <a:r>
              <a:rPr lang="fr-FR" sz="1050" dirty="0"/>
              <a:t>*</a:t>
            </a:r>
            <a:br>
              <a:rPr lang="fr-FR" sz="1050" dirty="0"/>
            </a:br>
            <a:r>
              <a:rPr lang="fr-FR" sz="1050" dirty="0"/>
              <a:t>Sélectionnez une ou plusieurs catégories :</a:t>
            </a:r>
          </a:p>
          <a:p>
            <a:r>
              <a:rPr lang="fr-FR" sz="1050" dirty="0"/>
              <a:t>☐ Ménage / Nettoyage à domicile</a:t>
            </a:r>
            <a:br>
              <a:rPr lang="fr-FR" sz="1050" dirty="0"/>
            </a:br>
            <a:r>
              <a:rPr lang="fr-FR" sz="1050" dirty="0"/>
              <a:t>☐ Plomberie (réparations, installations)</a:t>
            </a:r>
            <a:br>
              <a:rPr lang="fr-FR" sz="1050" dirty="0"/>
            </a:br>
            <a:r>
              <a:rPr lang="fr-FR" sz="1050" dirty="0"/>
              <a:t>☐ Électricité (pannes, branchements, éclairage)</a:t>
            </a:r>
            <a:br>
              <a:rPr lang="fr-FR" sz="1050" dirty="0"/>
            </a:br>
            <a:r>
              <a:rPr lang="fr-FR" sz="1050" dirty="0"/>
              <a:t>☐ Coiffure / Beauté à domicile</a:t>
            </a:r>
            <a:br>
              <a:rPr lang="fr-FR" sz="1050" dirty="0"/>
            </a:br>
            <a:r>
              <a:rPr lang="fr-FR" sz="1050" dirty="0"/>
              <a:t>☐ Jardinage / Entretien d’extérieur</a:t>
            </a:r>
            <a:br>
              <a:rPr lang="fr-FR" sz="1050" dirty="0"/>
            </a:br>
            <a:r>
              <a:rPr lang="fr-FR" sz="1050" dirty="0"/>
              <a:t>☐ Petits travaux / Bricolage</a:t>
            </a:r>
            <a:br>
              <a:rPr lang="fr-FR" sz="1050" dirty="0"/>
            </a:br>
            <a:r>
              <a:rPr lang="fr-FR" sz="1050" dirty="0"/>
              <a:t>☐ Livraison (courses, repas, colis)</a:t>
            </a:r>
            <a:br>
              <a:rPr lang="fr-FR" sz="1050" dirty="0"/>
            </a:br>
            <a:r>
              <a:rPr lang="fr-FR" sz="1050" dirty="0"/>
              <a:t>☐ Garde d’enfants / Baby-sitting</a:t>
            </a:r>
            <a:br>
              <a:rPr lang="fr-FR" sz="1050" dirty="0"/>
            </a:br>
            <a:r>
              <a:rPr lang="fr-FR" sz="1050" dirty="0"/>
              <a:t>☐ Cours particuliers / Soutien scolaire</a:t>
            </a:r>
            <a:br>
              <a:rPr lang="fr-FR" sz="1050" dirty="0"/>
            </a:br>
            <a:r>
              <a:rPr lang="fr-FR" sz="1050" dirty="0"/>
              <a:t>☐ Sport / Remise en forme</a:t>
            </a:r>
            <a:br>
              <a:rPr lang="fr-FR" sz="1050" dirty="0"/>
            </a:br>
            <a:r>
              <a:rPr lang="fr-FR" sz="1050" dirty="0"/>
              <a:t>☐ Assistance informatique / Téléphone</a:t>
            </a:r>
            <a:br>
              <a:rPr lang="fr-FR" sz="1050" dirty="0"/>
            </a:br>
            <a:r>
              <a:rPr lang="fr-FR" sz="1050" dirty="0"/>
              <a:t>☐ Réparation auto / Moto</a:t>
            </a:r>
            <a:br>
              <a:rPr lang="fr-FR" sz="1050" dirty="0"/>
            </a:br>
            <a:r>
              <a:rPr lang="fr-FR" sz="1050" dirty="0"/>
              <a:t>☐ Peinture / Décoration</a:t>
            </a:r>
            <a:br>
              <a:rPr lang="fr-FR" sz="1050" dirty="0"/>
            </a:br>
            <a:r>
              <a:rPr lang="fr-FR" sz="1050" dirty="0"/>
              <a:t>☐ Déménagement / Transport</a:t>
            </a:r>
            <a:br>
              <a:rPr lang="fr-FR" sz="1050" dirty="0"/>
            </a:br>
            <a:r>
              <a:rPr lang="fr-FR" sz="1050" dirty="0"/>
              <a:t>☐ Autre (précisez)</a:t>
            </a:r>
          </a:p>
          <a:p>
            <a:br>
              <a:rPr lang="fr-FR" sz="1050" dirty="0"/>
            </a:br>
            <a:endParaRPr lang="fr-FR" sz="1050" dirty="0"/>
          </a:p>
          <a:p>
            <a:endParaRPr lang="en-US" sz="105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83D7B9-B990-687E-637C-09F2CA95CD89}"/>
              </a:ext>
            </a:extLst>
          </p:cNvPr>
          <p:cNvSpPr txBox="1">
            <a:spLocks/>
          </p:cNvSpPr>
          <p:nvPr/>
        </p:nvSpPr>
        <p:spPr>
          <a:xfrm>
            <a:off x="4881286" y="-809763"/>
            <a:ext cx="4372800" cy="642067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000" b="1" dirty="0"/>
              <a:t>Décrivez votre entreprise ou vos services</a:t>
            </a:r>
            <a:r>
              <a:rPr lang="fr-FR" sz="1000" dirty="0"/>
              <a:t>*</a:t>
            </a:r>
            <a:br>
              <a:rPr lang="fr-FR" sz="1000" dirty="0"/>
            </a:br>
            <a:r>
              <a:rPr lang="fr-FR" sz="1000" dirty="0"/>
              <a:t>Expliquez brièvement ce que vous faites et ce qui vous différencie.</a:t>
            </a:r>
            <a:br>
              <a:rPr lang="fr-FR" sz="1000" dirty="0"/>
            </a:br>
            <a:r>
              <a:rPr lang="fr-FR" sz="1000" i="1" dirty="0"/>
              <a:t>Exemple : “Je propose des services de nettoyage pour bureaux et maisons dans la zone d’</a:t>
            </a:r>
            <a:r>
              <a:rPr lang="fr-FR" sz="1000" i="1" dirty="0" err="1"/>
              <a:t>Akanda</a:t>
            </a:r>
            <a:r>
              <a:rPr lang="fr-FR" sz="1000" i="1" dirty="0"/>
              <a:t>.”</a:t>
            </a:r>
            <a:endParaRPr lang="en-US" sz="1000" dirty="0"/>
          </a:p>
          <a:p>
            <a:r>
              <a:rPr lang="fr-FR" sz="1000" b="1" dirty="0"/>
              <a:t>Tarif moyen (optionnel)</a:t>
            </a:r>
            <a:br>
              <a:rPr lang="fr-FR" sz="1000" dirty="0"/>
            </a:br>
            <a:r>
              <a:rPr lang="fr-FR" sz="1000" dirty="0"/>
              <a:t>Exemple : 15 000 FCFA / heure ou 50 000 FCFA / projet</a:t>
            </a:r>
            <a:endParaRPr lang="en-US" sz="1000" dirty="0">
              <a:effectLst/>
            </a:endParaRPr>
          </a:p>
          <a:p>
            <a:r>
              <a:rPr lang="fr-FR" sz="1000" b="1" dirty="0"/>
              <a:t>Années d’expérience (optionnel)</a:t>
            </a:r>
            <a:br>
              <a:rPr lang="fr-FR" sz="1000" dirty="0"/>
            </a:br>
            <a:r>
              <a:rPr lang="fr-FR" sz="1000" dirty="0"/>
              <a:t>Exemple : 2 ans, 5 ans, plus de 10 ans</a:t>
            </a:r>
            <a:endParaRPr lang="en-US" sz="1000" dirty="0">
              <a:effectLst/>
            </a:endParaRPr>
          </a:p>
          <a:p>
            <a:br>
              <a:rPr lang="fr-FR" sz="1000" dirty="0"/>
            </a:br>
            <a:endParaRPr lang="en-US" sz="1000" dirty="0">
              <a:effectLst/>
            </a:endParaRPr>
          </a:p>
          <a:p>
            <a:r>
              <a:rPr lang="fr-FR" sz="1000" b="1" dirty="0"/>
              <a:t>Soutien dont vous avez besoin pour développer votre activité</a:t>
            </a:r>
            <a:r>
              <a:rPr lang="fr-FR" sz="1000" dirty="0"/>
              <a:t>*</a:t>
            </a:r>
            <a:br>
              <a:rPr lang="fr-FR" sz="1000" dirty="0"/>
            </a:br>
            <a:r>
              <a:rPr lang="fr-FR" sz="1000" dirty="0"/>
              <a:t>Cochez toutes les options qui s’appliquent :</a:t>
            </a:r>
            <a:endParaRPr lang="en-US" sz="1000" dirty="0">
              <a:effectLst/>
            </a:endParaRPr>
          </a:p>
          <a:p>
            <a:r>
              <a:rPr lang="fr-FR" sz="1000" dirty="0"/>
              <a:t>☐ Trouver plus de clients</a:t>
            </a:r>
            <a:br>
              <a:rPr lang="fr-FR" sz="1000" dirty="0"/>
            </a:br>
            <a:r>
              <a:rPr lang="fr-FR" sz="1000" dirty="0"/>
              <a:t>☐ Améliorer ma visibilité en ligne</a:t>
            </a:r>
            <a:br>
              <a:rPr lang="fr-FR" sz="1000" dirty="0"/>
            </a:br>
            <a:r>
              <a:rPr lang="fr-FR" sz="1000" dirty="0"/>
              <a:t>☐ Accéder à du matériel ou à des outils professionnels</a:t>
            </a:r>
            <a:br>
              <a:rPr lang="fr-FR" sz="1000" dirty="0"/>
            </a:br>
            <a:r>
              <a:rPr lang="fr-FR" sz="1000" dirty="0"/>
              <a:t>☐ Recevoir un soutien marketing (flyers, réseaux sociaux, profil </a:t>
            </a:r>
            <a:r>
              <a:rPr lang="fr-FR" sz="1000" dirty="0" err="1"/>
              <a:t>OneMarket</a:t>
            </a:r>
            <a:r>
              <a:rPr lang="fr-FR" sz="1000" dirty="0"/>
              <a:t>)</a:t>
            </a:r>
            <a:br>
              <a:rPr lang="fr-FR" sz="1000" dirty="0"/>
            </a:br>
            <a:r>
              <a:rPr lang="fr-FR" sz="1000" dirty="0"/>
              <a:t>☐ Créer ou améliorer ma présence digitale (photos, logo, page pro)</a:t>
            </a:r>
            <a:br>
              <a:rPr lang="fr-FR" sz="1000" dirty="0"/>
            </a:br>
            <a:r>
              <a:rPr lang="fr-FR" sz="1000" dirty="0"/>
              <a:t>☐ Autre (précisez)</a:t>
            </a:r>
            <a:endParaRPr lang="en-US" sz="1000" dirty="0">
              <a:effectLst/>
            </a:endParaRPr>
          </a:p>
          <a:p>
            <a:br>
              <a:rPr lang="fr-FR" sz="1000" dirty="0"/>
            </a:br>
            <a:endParaRPr lang="en-US" sz="1000" dirty="0">
              <a:effectLst/>
            </a:endParaRPr>
          </a:p>
          <a:p>
            <a:r>
              <a:rPr lang="fr-FR" sz="1000" b="1" dirty="0"/>
              <a:t>Comment </a:t>
            </a:r>
            <a:r>
              <a:rPr lang="fr-FR" sz="1000" b="1" dirty="0" err="1"/>
              <a:t>OneMarket</a:t>
            </a:r>
            <a:r>
              <a:rPr lang="fr-FR" sz="1000" b="1" dirty="0"/>
              <a:t> peut vous aider ?</a:t>
            </a:r>
            <a:r>
              <a:rPr lang="fr-FR" sz="1000" dirty="0"/>
              <a:t>*</a:t>
            </a:r>
            <a:br>
              <a:rPr lang="fr-FR" sz="1000" dirty="0"/>
            </a:br>
            <a:r>
              <a:rPr lang="fr-FR" sz="1000" dirty="0"/>
              <a:t>Décrivez en quelques lignes comment la plateforme pourrait, selon vous, </a:t>
            </a:r>
            <a:r>
              <a:rPr lang="fr-FR" sz="1000" b="1" dirty="0"/>
              <a:t>vous aider à faire croître votre entreprise</a:t>
            </a:r>
            <a:r>
              <a:rPr lang="fr-FR" sz="1000" dirty="0"/>
              <a:t>.</a:t>
            </a:r>
            <a:br>
              <a:rPr lang="fr-FR" sz="1000" dirty="0"/>
            </a:br>
            <a:r>
              <a:rPr lang="fr-FR" sz="1000" i="1" dirty="0"/>
              <a:t>Exemple : “</a:t>
            </a:r>
            <a:r>
              <a:rPr lang="fr-FR" sz="1000" i="1" dirty="0" err="1"/>
              <a:t>OneMarket</a:t>
            </a:r>
            <a:r>
              <a:rPr lang="fr-FR" sz="1000" i="1" dirty="0"/>
              <a:t> pourrait m’aider à trouver des clients réguliers et à présenter mes services en ligne.”</a:t>
            </a:r>
            <a:endParaRPr lang="en-US" sz="1000" dirty="0">
              <a:effectLst/>
            </a:endParaRPr>
          </a:p>
          <a:p>
            <a:br>
              <a:rPr lang="fr-FR" sz="1000" dirty="0"/>
            </a:br>
            <a:endParaRPr lang="en-US" sz="1000" dirty="0">
              <a:effectLst/>
            </a:endParaRPr>
          </a:p>
          <a:p>
            <a:r>
              <a:rPr lang="fr-FR" sz="1000" b="1" dirty="0"/>
              <a:t>Soumettre l’inscription</a:t>
            </a:r>
            <a:br>
              <a:rPr lang="fr-FR" sz="1000" dirty="0"/>
            </a:br>
            <a:r>
              <a:rPr lang="fr-FR" sz="1000" dirty="0"/>
              <a:t>En envoyant ce formulaire, vous rejoignez la </a:t>
            </a:r>
            <a:r>
              <a:rPr lang="fr-FR" sz="1000" b="1" dirty="0"/>
              <a:t>liste officielle des prestataires </a:t>
            </a:r>
            <a:r>
              <a:rPr lang="fr-FR" sz="1000" b="1" dirty="0" err="1"/>
              <a:t>OneMarket</a:t>
            </a:r>
            <a:r>
              <a:rPr lang="fr-FR" sz="1000" dirty="0"/>
              <a:t> et serez contacté(e) avant le lancement pour la création de votre profil vérifié et vos premières opportunités.</a:t>
            </a:r>
            <a:endParaRPr lang="en-US" sz="1000" dirty="0">
              <a:effectLst/>
            </a:endParaRP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9140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1069</Words>
  <Application>Microsoft Office PowerPoint</Application>
  <PresentationFormat>Custom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Marianne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Loyd Joel Sima Essamvous</dc:creator>
  <dc:description/>
  <cp:lastModifiedBy>Jean Joel Essamvous</cp:lastModifiedBy>
  <cp:revision>2</cp:revision>
  <dcterms:created xsi:type="dcterms:W3CDTF">2025-10-30T01:24:11Z</dcterms:created>
  <dcterms:modified xsi:type="dcterms:W3CDTF">2025-11-02T03:51:46Z</dcterms:modified>
  <dc:language>fr-FR</dc:language>
</cp:coreProperties>
</file>